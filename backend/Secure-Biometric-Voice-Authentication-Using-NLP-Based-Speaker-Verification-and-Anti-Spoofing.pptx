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5-3.svg" ContentType="image/svg+xml"/>
  <Override PartName="/ppt/media/image-5-5.svg" ContentType="image/svg+xml"/>
  <Override PartName="/ppt/media/image-8-2.svg" ContentType="image/svg+xml"/>
  <Override PartName="/ppt/media/image-8-4.svg" ContentType="image/svg+xml"/>
  <Override PartName="/ppt/media/image-8-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390758"/>
            <a:ext cx="6296860" cy="2457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000"/>
              </a:spcAft>
              <a:buNone/>
              <a:defRPr sz="3000" b="1">
                <a:solidFill>
                  <a:srgbClr val="F2F5FA"/>
                </a:solidFill>
                <a:latin typeface="Geist Bold"/>
              </a:defRPr>
            </a:pPr>
            <a:r>
              <a:t>Secure Biometric Voice Authentication Using NLP-Based Speaker Verification and Anti-Spoofing</a:t>
            </a:r>
            <a:endParaRPr lang="en-US" sz="3700" dirty="0"/>
          </a:p>
          <a:p>
            <a:pPr>
              <a:spcAft>
                <a:spcPts val="400"/>
              </a:spcAft>
              <a:defRPr sz="1600" b="0">
                <a:solidFill>
                  <a:srgbClr val="38BDF8"/>
                </a:solidFill>
                <a:latin typeface="Geist"/>
              </a:defRPr>
            </a:pPr>
            <a:r>
              <a:t>Review 2 — Comprehensive Project Implementation &amp; Experimental Defense</a:t>
            </a:r>
          </a:p>
        </p:txBody>
      </p:sp>
      <p:sp>
        <p:nvSpPr>
          <p:cNvPr id="4" name="Text 1"/>
          <p:cNvSpPr/>
          <p:nvPr/>
        </p:nvSpPr>
        <p:spPr>
          <a:xfrm>
            <a:off x="5233311" y="3914482"/>
            <a:ext cx="6296860" cy="30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200"/>
              </a:spcAft>
              <a:buNone/>
              <a:defRPr sz="1500" b="1">
                <a:solidFill>
                  <a:srgbClr val="F2F5FA"/>
                </a:solidFill>
                <a:latin typeface="Geist Bold"/>
              </a:defRPr>
            </a:pPr>
            <a:r>
              <a:t>Review 2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4504515"/>
            <a:ext cx="6296860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200" b="0">
                <a:solidFill>
                  <a:srgbClr val="EBEDF0"/>
                </a:solidFill>
                <a:latin typeface="Geist"/>
              </a:defRPr>
            </a:pPr>
            <a:r>
              <a:t>Palli Pavan Kumar — 23MID0181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200" b="0">
                <a:solidFill>
                  <a:srgbClr val="EBEDF0"/>
                </a:solidFill>
                <a:latin typeface="Geist"/>
              </a:defRPr>
            </a:pPr>
            <a:r>
              <a:t>Venkata Sateesh M — 23MID0179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200" b="0">
                <a:solidFill>
                  <a:srgbClr val="EBEDF0"/>
                </a:solidFill>
                <a:latin typeface="Geist"/>
              </a:defRPr>
            </a:pPr>
            <a:r>
              <a:t>Mohammed Irfanulla N — 23MID0090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200" b="0">
                <a:solidFill>
                  <a:srgbClr val="EBEDF0"/>
                </a:solidFill>
                <a:latin typeface="Geist"/>
              </a:defRPr>
            </a:pPr>
            <a:r>
              <a:t>Saswat Subhang — 23MID0075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45472"/>
            <a:ext cx="6296860" cy="982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2500" b="1">
                <a:solidFill>
                  <a:srgbClr val="F2F5FA"/>
                </a:solidFill>
                <a:latin typeface="Geist Bold"/>
              </a:defRPr>
            </a:pPr>
            <a:r>
              <a:t>Threat Landscape &amp; Limitations of Conventional ASV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661475" y="1801316"/>
            <a:ext cx="3053877" cy="4521597"/>
          </a:xfrm>
          <a:prstGeom prst="roundRect">
            <a:avLst>
              <a:gd name="adj" fmla="val 260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9531" y="2009378"/>
            <a:ext cx="2637764" cy="30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500" b="1">
                <a:solidFill>
                  <a:srgbClr val="38BDF8"/>
                </a:solidFill>
                <a:latin typeface="Geist Bold"/>
              </a:defRPr>
            </a:pPr>
            <a:r>
              <a:t>Voice Biometric Threat Taxonomy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69531" y="2429867"/>
            <a:ext cx="2637764" cy="3439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800"/>
              </a:spcAft>
              <a:buNone/>
              <a:defRPr sz="1050" b="0">
                <a:solidFill>
                  <a:srgbClr val="EBEDF0"/>
                </a:solidFill>
                <a:latin typeface="Geist"/>
              </a:defRPr>
            </a:pPr>
            <a:r>
              <a:t>• Neural TTS Voice Cloning: Modern generative models (ElevenLabs, VITS) synthesize photorealistic human speech from &lt;5s of audio, perfectly cloning target speaker timbre.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800"/>
              </a:spcAft>
              <a:buNone/>
              <a:defRPr sz="1050" b="0">
                <a:solidFill>
                  <a:srgbClr val="EBEDF0"/>
                </a:solidFill>
                <a:latin typeface="Geist"/>
              </a:defRPr>
            </a:pPr>
            <a:r>
              <a:t>• Voice Conversion (VC): Latent identity transformation mapping attacker prosody onto target speaker embeddings while retaining spoken words.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800"/>
              </a:spcAft>
              <a:buNone/>
              <a:defRPr sz="1050" b="0">
                <a:solidFill>
                  <a:srgbClr val="EBEDF0"/>
                </a:solidFill>
                <a:latin typeface="Geist"/>
              </a:defRPr>
            </a:pPr>
            <a:r>
              <a:t>• Acoustic Replay Attacks: High-fidelity loudspeaker playback capturing and re-transmitting genuine enrollment utterances into microphones.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050" b="0">
                <a:solidFill>
                  <a:srgbClr val="EBEDF0"/>
                </a:solidFill>
                <a:latin typeface="Geist"/>
              </a:defRPr>
            </a:pPr>
            <a:r>
              <a:t>• Zero-Day Vocoder Artifacts: Subtle synthetic artifacts, latent phase incoherencies, and high-frequency roll-offs in generated audio.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1801316"/>
            <a:ext cx="3053976" cy="4521597"/>
          </a:xfrm>
          <a:prstGeom prst="roundRect">
            <a:avLst>
              <a:gd name="adj" fmla="val 259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2415" y="2009378"/>
            <a:ext cx="2637863" cy="30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500" b="1">
                <a:solidFill>
                  <a:srgbClr val="FB923C"/>
                </a:solidFill>
                <a:latin typeface="Geist Bold"/>
              </a:defRPr>
            </a:pPr>
            <a:r>
              <a:t>Limitations of Conventional ASV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112415" y="2429867"/>
            <a:ext cx="2637863" cy="368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800"/>
              </a:spcAft>
              <a:buNone/>
              <a:defRPr sz="1050" b="0">
                <a:solidFill>
                  <a:srgbClr val="EBEDF0"/>
                </a:solidFill>
                <a:latin typeface="Geist"/>
              </a:defRPr>
            </a:pPr>
            <a:r>
              <a:t>• The Fatal Blindspot: Conventional ASV (pure ECAPA-TDNN) measures only acoustic similarity (s_asv). Modern voice clones achieve s_asv &gt; 0.70, causing a 100% false accept vulnerability to targeted deepfakes.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800"/>
              </a:spcAft>
              <a:buNone/>
              <a:defRPr sz="1050" b="0">
                <a:solidFill>
                  <a:srgbClr val="EBEDF0"/>
                </a:solidFill>
                <a:latin typeface="Geist"/>
              </a:defRPr>
            </a:pPr>
            <a:r>
              <a:t>• Disjoint Architecture: Standalone ASV and Countermeasure (CM) modules operate in isolation without joint score fusion or cross-risk calibration.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050" b="0">
                <a:solidFill>
                  <a:srgbClr val="EBEDF0"/>
                </a:solidFill>
                <a:latin typeface="Geist"/>
              </a:defRPr>
            </a:pPr>
            <a:r>
              <a:t>• Absence of Dynamic Liveness: Static passphrases fail completely against recorded audio playback, live replay, and responsive voice generation.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396"/>
            <a:ext cx="10868745" cy="452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2400" b="1">
                <a:solidFill>
                  <a:srgbClr val="F2F5FA"/>
                </a:solidFill>
                <a:latin typeface="Geist Bold"/>
              </a:defRPr>
            </a:pPr>
            <a:r>
              <a:t>End-to-End System Architecture &amp; 5-Stage Verification Flow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693" y="1300163"/>
            <a:ext cx="10240210" cy="44159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749" y="4872858"/>
            <a:ext cx="2323161" cy="302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200"/>
              </a:spcAft>
              <a:buNone/>
              <a:defRPr sz="1300" b="1">
                <a:solidFill>
                  <a:srgbClr val="818CF8"/>
                </a:solidFill>
                <a:latin typeface="Geist Bold"/>
              </a:defRPr>
            </a:pPr>
            <a:r>
              <a:t>Stage 5: Gated Score Fusion</a:t>
            </a:r>
            <a:endParaRPr lang="en-US" sz="1800" dirty="0"/>
          </a:p>
          <a:p>
            <a:pPr>
              <a:spcAft>
                <a:spcPts val="200"/>
              </a:spcAft>
              <a:defRPr sz="950" b="0">
                <a:solidFill>
                  <a:srgbClr val="EBEDF0"/>
                </a:solidFill>
                <a:latin typeface="Geist"/>
              </a:defRPr>
            </a:pPr>
            <a:r>
              <a:t>Trained Logistic Regression + Non-linear hard countermeasure floor gate.</a:t>
            </a:r>
          </a:p>
        </p:txBody>
      </p:sp>
      <p:sp>
        <p:nvSpPr>
          <p:cNvPr id="5" name="Text 2"/>
          <p:cNvSpPr/>
          <p:nvPr/>
        </p:nvSpPr>
        <p:spPr>
          <a:xfrm>
            <a:off x="1664749" y="3850642"/>
            <a:ext cx="2540957" cy="302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200"/>
              </a:spcAft>
              <a:buNone/>
              <a:defRPr sz="1300" b="1">
                <a:solidFill>
                  <a:srgbClr val="34D399"/>
                </a:solidFill>
                <a:latin typeface="Geist Bold"/>
              </a:defRPr>
            </a:pPr>
            <a:r>
              <a:t>Stage 3 &amp; 4: Dual Neural Verification</a:t>
            </a:r>
            <a:endParaRPr lang="en-US" sz="1800" dirty="0"/>
          </a:p>
          <a:p>
            <a:pPr>
              <a:spcAft>
                <a:spcPts val="200"/>
              </a:spcAft>
              <a:defRPr sz="950" b="0">
                <a:solidFill>
                  <a:srgbClr val="EBEDF0"/>
                </a:solidFill>
                <a:latin typeface="Geist"/>
              </a:defRPr>
            </a:pPr>
            <a:r>
              <a:t>AASIST Spectro-Temporal GAT (s_cm) + ECAPA-TDNN 192-d Cosine Match (s_asv).</a:t>
            </a:r>
          </a:p>
        </p:txBody>
      </p:sp>
      <p:sp>
        <p:nvSpPr>
          <p:cNvPr id="6" name="Text 3"/>
          <p:cNvSpPr/>
          <p:nvPr/>
        </p:nvSpPr>
        <p:spPr>
          <a:xfrm>
            <a:off x="1664749" y="2838751"/>
            <a:ext cx="2396727" cy="302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200"/>
              </a:spcAft>
              <a:buNone/>
              <a:defRPr sz="1300" b="1">
                <a:solidFill>
                  <a:srgbClr val="38BDF8"/>
                </a:solidFill>
                <a:latin typeface="Geist Bold"/>
              </a:defRPr>
            </a:pPr>
            <a:r>
              <a:t>Stage 2: Dynamic Liveness</a:t>
            </a:r>
            <a:endParaRPr lang="en-US" sz="1800" dirty="0"/>
          </a:p>
          <a:p>
            <a:pPr>
              <a:spcAft>
                <a:spcPts val="200"/>
              </a:spcAft>
              <a:defRPr sz="950" b="0">
                <a:solidFill>
                  <a:srgbClr val="EBEDF0"/>
                </a:solidFill>
                <a:latin typeface="Geist"/>
              </a:defRPr>
            </a:pPr>
            <a:r>
              <a:t>OpenAI Whisper ASR, 20s TTL session nonce, 2-digit number verification.</a:t>
            </a:r>
          </a:p>
        </p:txBody>
      </p:sp>
      <p:sp>
        <p:nvSpPr>
          <p:cNvPr id="7" name="Text 4"/>
          <p:cNvSpPr/>
          <p:nvPr/>
        </p:nvSpPr>
        <p:spPr>
          <a:xfrm>
            <a:off x="1664749" y="1816535"/>
            <a:ext cx="2323161" cy="302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200"/>
              </a:spcAft>
              <a:buNone/>
              <a:defRPr sz="1300" b="1">
                <a:solidFill>
                  <a:srgbClr val="FACC15"/>
                </a:solidFill>
                <a:latin typeface="Geist Bold"/>
              </a:defRPr>
            </a:pPr>
            <a:r>
              <a:t>Stage 1: Signal Diagnostics</a:t>
            </a:r>
            <a:endParaRPr lang="en-US" sz="1800" dirty="0"/>
          </a:p>
          <a:p>
            <a:pPr>
              <a:spcAft>
                <a:spcPts val="200"/>
              </a:spcAft>
              <a:defRPr sz="950" b="0">
                <a:solidFill>
                  <a:srgbClr val="EBEDF0"/>
                </a:solidFill>
                <a:latin typeface="Geist"/>
              </a:defRPr>
            </a:pPr>
            <a:r>
              <a:t>16 kHz mono standardization, RMS &gt;= 0.003, clipping &amp; duration check.</a:t>
            </a:r>
          </a:p>
        </p:txBody>
      </p:sp>
      <p:sp>
        <p:nvSpPr>
          <p:cNvPr id="8" name="Text 5"/>
          <p:cNvSpPr/>
          <p:nvPr/>
        </p:nvSpPr>
        <p:spPr>
          <a:xfrm>
            <a:off x="661475" y="5905389"/>
            <a:ext cx="10868745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spcAft>
                <a:spcPts val="200"/>
              </a:spcAft>
              <a:buNone/>
              <a:defRPr sz="1100" b="0">
                <a:solidFill>
                  <a:srgbClr val="F2F5FA"/>
                </a:solidFill>
                <a:latin typeface="Geist"/>
              </a:defRPr>
            </a:pPr>
            <a:r>
              <a:t>Multi-Layer Defense Formulation: Jointly resolves Identity (ECAPA-TDNN), Authenticity (AASIST), and Live Presence (Whisper ASR), enforcing a mandatory countermeasure safeguard gate to block 100% of target attacks in &lt;390 ms.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985507"/>
            <a:ext cx="6296860" cy="982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2400" b="1">
                <a:solidFill>
                  <a:srgbClr val="F2F5FA"/>
                </a:solidFill>
                <a:latin typeface="Geist Bold"/>
              </a:defRPr>
            </a:pPr>
            <a:r>
              <a:t>Identity Verification Layer — ECAPA-TDNN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2246594"/>
            <a:ext cx="629686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100" b="0">
                <a:solidFill>
                  <a:srgbClr val="94A3B8"/>
                </a:solidFill>
                <a:latin typeface="Geist"/>
              </a:defRPr>
            </a:pPr>
            <a:r>
              <a:t>SpeechBrain ECAPA-TDNN extracts 192-dimensional L2-normalized speaker embeddings robust to channel noise and acoustic variations, scoring via cosine similarity against enrolled templates.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190974"/>
            <a:ext cx="3053877" cy="2691904"/>
          </a:xfrm>
          <a:prstGeom prst="roundRect">
            <a:avLst>
              <a:gd name="adj" fmla="val 2949"/>
            </a:avLst>
          </a:prstGeom>
          <a:solidFill>
            <a:srgbClr val="101620">
              <a:alpha val="95000"/>
            </a:srgbClr>
          </a:solidFill>
          <a:ln w="25399">
            <a:solidFill>
              <a:srgbClr val="002A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47767" y="3405386"/>
            <a:ext cx="2625064" cy="30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400" b="1">
                <a:solidFill>
                  <a:srgbClr val="38BDF8"/>
                </a:solidFill>
                <a:latin typeface="Geist Bold"/>
              </a:defRPr>
            </a:pPr>
            <a:r>
              <a:t>Architectural Mechanisms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47767" y="3825875"/>
            <a:ext cx="2625064" cy="1785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spcAft>
                <a:spcPts val="600"/>
              </a:spcAft>
              <a:buSzPct val="100000"/>
              <a:buChar char="•"/>
              <a:defRPr sz="1000" b="0">
                <a:solidFill>
                  <a:srgbClr val="EBEDF0"/>
                </a:solidFill>
                <a:latin typeface="Geist"/>
              </a:defRPr>
            </a:pPr>
            <a:r>
              <a:t>• Res2Net Dilated Convolutions: Hierarchical multi-scale feature maps capture speaker-discriminative vocal tract acoustics.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spcAft>
                <a:spcPts val="600"/>
              </a:spcAft>
              <a:buSzPct val="100000"/>
              <a:buChar char="•"/>
              <a:defRPr sz="1000" b="0">
                <a:solidFill>
                  <a:srgbClr val="EBEDF0"/>
                </a:solidFill>
                <a:latin typeface="Geist"/>
              </a:defRPr>
            </a:pPr>
            <a:r>
              <a:t>• Squeeze-and-Excitation (SE): Channel-attention blocks dynamically rescale feature channels, suppressing non-speaker noise.</a:t>
            </a:r>
            <a:endParaRPr lang="en-US" sz="1450" dirty="0"/>
          </a:p>
          <a:p>
            <a:pPr>
              <a:spcAft>
                <a:spcPts val="600"/>
              </a:spcAft>
              <a:defRPr sz="1000" b="0">
                <a:solidFill>
                  <a:srgbClr val="EBEDF0"/>
                </a:solidFill>
                <a:latin typeface="Geist"/>
              </a:defRPr>
            </a:pPr>
            <a:r>
              <a:t>• Multi-layer Feature Aggregation (MFA): Concatenates shallow and deep representations for acoustic stability.</a:t>
            </a:r>
          </a:p>
          <a:p>
            <a:pPr>
              <a:spcAft>
                <a:spcPts val="400"/>
              </a:spcAft>
              <a:defRPr sz="1000" b="0">
                <a:solidFill>
                  <a:srgbClr val="EBEDF0"/>
                </a:solidFill>
                <a:latin typeface="Geist"/>
              </a:defRPr>
            </a:pPr>
            <a:r>
              <a:t>• Attentive Statistical Pooling (ASP): Weights temporal frames into a 192-d mean &amp; standard deviation vector.</a:t>
            </a:r>
          </a:p>
        </p:txBody>
      </p:sp>
      <p:sp>
        <p:nvSpPr>
          <p:cNvPr id="8" name="Shape 5"/>
          <p:cNvSpPr/>
          <p:nvPr/>
        </p:nvSpPr>
        <p:spPr>
          <a:xfrm>
            <a:off x="8476244" y="3190974"/>
            <a:ext cx="3053976" cy="2691904"/>
          </a:xfrm>
          <a:prstGeom prst="roundRect">
            <a:avLst>
              <a:gd name="adj" fmla="val 2949"/>
            </a:avLst>
          </a:prstGeom>
          <a:solidFill>
            <a:srgbClr val="101620">
              <a:alpha val="95000"/>
            </a:srgbClr>
          </a:solidFill>
          <a:ln w="25399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90651" y="3405386"/>
            <a:ext cx="2625163" cy="30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400" b="1">
                <a:solidFill>
                  <a:srgbClr val="34D399"/>
                </a:solidFill>
                <a:latin typeface="Geist Bold"/>
              </a:defRPr>
            </a:pPr>
            <a:r>
              <a:t>Scoring &amp; Multi-Utterance Enrollment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90651" y="3825875"/>
            <a:ext cx="2625163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  <a:defRPr sz="1050" b="1">
                <a:solidFill>
                  <a:srgbClr val="F2F5FA"/>
                </a:solidFill>
                <a:latin typeface="Geist Bold"/>
              </a:defRPr>
            </a:pPr>
            <a:r>
              <a:t>• Length-Normalized Cosine Similarity:  s_asv = (e_probe · e_enroll) / (||e_probe|| ||e_enroll||)</a:t>
            </a:r>
            <a:endParaRPr lang="en-US" sz="1450" dirty="0"/>
          </a:p>
          <a:p>
            <a:pPr>
              <a:spcAft>
                <a:spcPts val="600"/>
              </a:spcAft>
              <a:defRPr sz="1000" b="0">
                <a:solidFill>
                  <a:srgbClr val="EBEDF0"/>
                </a:solidFill>
                <a:latin typeface="Geist"/>
              </a:defRPr>
            </a:pPr>
            <a:r>
              <a:t>• Multi-Utterance Enrollment: 3 genuine user recordings quality-checked, normalized, and averaged into an enrolled voice template.</a:t>
            </a:r>
          </a:p>
          <a:p>
            <a:pPr>
              <a:spcAft>
                <a:spcPts val="400"/>
              </a:spcAft>
              <a:defRPr sz="1000" b="0">
                <a:solidFill>
                  <a:srgbClr val="EBEDF0"/>
                </a:solidFill>
                <a:latin typeface="Geist"/>
              </a:defRPr>
            </a:pPr>
            <a:r>
              <a:t>• Live Score Dynamics: Target genuine matches score s_asv in [0.35, 0.75]; zero-effort human impostors score s_asv in [-0.10, 0.25].</a:t>
            </a:r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0651" y="4802088"/>
            <a:ext cx="2625163" cy="8663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990667"/>
            <a:ext cx="6296860" cy="982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2400" b="1">
                <a:solidFill>
                  <a:srgbClr val="F2F5FA"/>
                </a:solidFill>
                <a:latin typeface="Geist Bold"/>
              </a:defRPr>
            </a:pPr>
            <a:r>
              <a:t>Anti-Spoofing Countermeasure — AASIST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2251753"/>
            <a:ext cx="629686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100" b="0">
                <a:solidFill>
                  <a:srgbClr val="94A3B8"/>
                </a:solidFill>
                <a:latin typeface="Geist"/>
              </a:defRPr>
            </a:pPr>
            <a:r>
              <a:t>AASIST processes 16 kHz raw waveforms directly through SincNet filterbanks and heterogeneous spectro-temporal graph attention, exposing synthetic speech boundaries and vocoder phase anomalies.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3196134"/>
            <a:ext cx="472468" cy="472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2062" y="3196134"/>
            <a:ext cx="2321561" cy="30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400" b="1">
                <a:solidFill>
                  <a:srgbClr val="38BDF8"/>
                </a:solidFill>
                <a:latin typeface="Geist Bold"/>
              </a:defRPr>
            </a:pPr>
            <a:r>
              <a:t>Raw Waveform &amp; Graph Architecture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5942062" y="3616623"/>
            <a:ext cx="2321561" cy="1719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  <a:defRPr sz="1000" b="0">
                <a:solidFill>
                  <a:srgbClr val="EBEDF0"/>
                </a:solidFill>
                <a:latin typeface="Geist"/>
              </a:defRPr>
            </a:pPr>
            <a:r>
              <a:t>• Raw Waveform Input: Operates on 64,600 samples (4.04s) of 16 kHz audio without lossy spectrogram transforms, preserving crucial phase information.</a:t>
            </a:r>
            <a:endParaRPr lang="en-US" sz="1450" dirty="0"/>
          </a:p>
          <a:p>
            <a:pPr>
              <a:spcAft>
                <a:spcPts val="600"/>
              </a:spcAft>
              <a:defRPr sz="1000" b="0">
                <a:solidFill>
                  <a:srgbClr val="EBEDF0"/>
                </a:solidFill>
                <a:latin typeface="Geist"/>
              </a:defRPr>
            </a:pPr>
            <a:r>
              <a:t>• SincNet Bandpass Filterbanks: Learns bandpass filters directly from waveforms to capture frequency-selective artifact modulations.</a:t>
            </a:r>
          </a:p>
          <a:p>
            <a:pPr>
              <a:spcAft>
                <a:spcPts val="400"/>
              </a:spcAft>
              <a:defRPr sz="1000" b="0">
                <a:solidFill>
                  <a:srgbClr val="EBEDF0"/>
                </a:solidFill>
                <a:latin typeface="Geist"/>
              </a:defRPr>
            </a:pPr>
            <a:r>
              <a:t>• Heterogeneous Graph Attention: Nodes represent time-frequency patches; edges model spectral adjacency and temporal transitions to detect synthetic vocoder artifacts.</a:t>
            </a:r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9858" y="3196134"/>
            <a:ext cx="472468" cy="472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08559" y="3196134"/>
            <a:ext cx="2321661" cy="30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400" b="1">
                <a:solidFill>
                  <a:srgbClr val="F87171"/>
                </a:solidFill>
                <a:latin typeface="Geist Bold"/>
              </a:defRPr>
            </a:pPr>
            <a:r>
              <a:t>Countermeasure Scoring &amp; Integrity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9208559" y="3616623"/>
            <a:ext cx="2321661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100" b="1">
                <a:solidFill>
                  <a:srgbClr val="F2F5FA"/>
                </a:solidFill>
                <a:latin typeface="Geist Bold"/>
              </a:defRPr>
            </a:pPr>
            <a:r>
              <a:t>• Dual Logit Score:  s_cm = logit_bonafide - logit_spoof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8559" y="4347170"/>
            <a:ext cx="2321661" cy="30867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208559" y="4895056"/>
            <a:ext cx="2321661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  <a:defRPr sz="1000" b="0">
                <a:solidFill>
                  <a:srgbClr val="EBEDF0"/>
                </a:solidFill>
                <a:latin typeface="Geist"/>
              </a:defRPr>
            </a:pPr>
            <a:r>
              <a:t>• Cryptographic Verification: Pretrained weights verified against Clova AI canonical repository (SHA-256: 51d2d9cf..., 1.28 MB).</a:t>
            </a:r>
            <a:endParaRPr lang="en-US" sz="1450" dirty="0"/>
          </a:p>
          <a:p>
            <a:pPr>
              <a:spcAft>
                <a:spcPts val="400"/>
              </a:spcAft>
              <a:defRPr sz="1000" b="0">
                <a:solidFill>
                  <a:srgbClr val="EBEDF0"/>
                </a:solidFill>
                <a:latin typeface="Geist"/>
              </a:defRPr>
            </a:pPr>
            <a:r>
              <a:t>• Score Behavior: Bona fide human speech yields positive logits (s_cm &gt; 0), whereas synthetic vocoders drive scores strongly negative (s_cm &lt;&lt; 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90526"/>
            <a:ext cx="4070744" cy="23067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99726" y="1390419"/>
            <a:ext cx="6336745" cy="982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2400" b="1">
                <a:solidFill>
                  <a:srgbClr val="F2F5FA"/>
                </a:solidFill>
                <a:latin typeface="Geist Bold"/>
              </a:defRPr>
            </a:pPr>
            <a:r>
              <a:t>Dynamic Liveness Verification — Whisper ASR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199726" y="2557049"/>
            <a:ext cx="6336745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100" b="0">
                <a:solidFill>
                  <a:srgbClr val="94A3B8"/>
                </a:solidFill>
                <a:latin typeface="Geist"/>
              </a:defRPr>
            </a:pPr>
            <a:r>
              <a:t>Real-time challenge-response verification using server-issued ephemeral nonces and sequence-to-sequence ASR to defeat pre-recorded replay, live relays, and offline deepfakes.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3903563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30" kern="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4208859"/>
            <a:ext cx="3496877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4354116"/>
            <a:ext cx="3496877" cy="30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300" b="1">
                <a:solidFill>
                  <a:srgbClr val="38BDF8"/>
                </a:solidFill>
                <a:latin typeface="Geist Bold"/>
              </a:defRPr>
            </a:pPr>
            <a:r>
              <a:t>Step 1 — Ephemeral Challenge Nonce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61475" y="4774605"/>
            <a:ext cx="349687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950" b="0">
                <a:solidFill>
                  <a:srgbClr val="EBEDF0"/>
                </a:solidFill>
                <a:latin typeface="Geist"/>
              </a:defRPr>
            </a:pPr>
            <a:r>
              <a:t>• Server generates a random phonetic phrase bound to a 2-digit number (e.g., 'WHISKEY-7-ECHO 42').</a:t>
            </a:r>
            <a:endParaRPr lang="en-US" sz="1450" dirty="0"/>
          </a:p>
          <a:p>
            <a:pPr>
              <a:spcAft>
                <a:spcPts val="400"/>
              </a:spcAft>
              <a:defRPr sz="950" b="0">
                <a:solidFill>
                  <a:srgbClr val="EBEDF0"/>
                </a:solidFill>
                <a:latin typeface="Geist"/>
              </a:defRPr>
            </a:pPr>
            <a:r>
              <a:t>• Enforces a strict 20-second Time-To-Live (TTL); challenge is consumed immediately upon submission to prevent replay.</a:t>
            </a:r>
          </a:p>
        </p:txBody>
      </p:sp>
      <p:sp>
        <p:nvSpPr>
          <p:cNvPr id="9" name="Text 6"/>
          <p:cNvSpPr/>
          <p:nvPr/>
        </p:nvSpPr>
        <p:spPr>
          <a:xfrm>
            <a:off x="4347359" y="3903563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30" kern="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347359" y="4208859"/>
            <a:ext cx="3496877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1" name="Text 8"/>
          <p:cNvSpPr/>
          <p:nvPr/>
        </p:nvSpPr>
        <p:spPr>
          <a:xfrm>
            <a:off x="4347359" y="4354116"/>
            <a:ext cx="3496877" cy="30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300" b="1">
                <a:solidFill>
                  <a:srgbClr val="38BDF8"/>
                </a:solidFill>
                <a:latin typeface="Geist Bold"/>
              </a:defRPr>
            </a:pPr>
            <a:r>
              <a:t>Step 2 — Real-Time Whisper ASR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4347359" y="4774605"/>
            <a:ext cx="349687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950" b="0">
                <a:solidFill>
                  <a:srgbClr val="EBEDF0"/>
                </a:solidFill>
                <a:latin typeface="Geist"/>
              </a:defRPr>
            </a:pPr>
            <a:r>
              <a:t>• OpenAI Whisper (small.en) running on local CUDA GPU transcribes probe audio in ~320 ms latency.</a:t>
            </a:r>
            <a:endParaRPr lang="en-US" sz="1450" dirty="0"/>
          </a:p>
          <a:p>
            <a:pPr>
              <a:spcAft>
                <a:spcPts val="400"/>
              </a:spcAft>
              <a:defRPr sz="950" b="0">
                <a:solidFill>
                  <a:srgbClr val="EBEDF0"/>
                </a:solidFill>
                <a:latin typeface="Geist"/>
              </a:defRPr>
            </a:pPr>
            <a:r>
              <a:t>• Sequence-to-sequence transformer decodes accurately under acoustic background noise and accented articulation.</a:t>
            </a:r>
          </a:p>
        </p:txBody>
      </p:sp>
      <p:sp>
        <p:nvSpPr>
          <p:cNvPr id="13" name="Text 10"/>
          <p:cNvSpPr/>
          <p:nvPr/>
        </p:nvSpPr>
        <p:spPr>
          <a:xfrm>
            <a:off x="8033244" y="3903563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30" kern="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033244" y="4208859"/>
            <a:ext cx="3496877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5" name="Text 12"/>
          <p:cNvSpPr/>
          <p:nvPr/>
        </p:nvSpPr>
        <p:spPr>
          <a:xfrm>
            <a:off x="8033244" y="4354116"/>
            <a:ext cx="3496877" cy="30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300" b="1">
                <a:solidFill>
                  <a:srgbClr val="38BDF8"/>
                </a:solidFill>
                <a:latin typeface="Geist Bold"/>
              </a:defRPr>
            </a:pPr>
            <a:r>
              <a:t>Step 3 — Dual Alignment &amp; Anti-Replay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8033244" y="4774605"/>
            <a:ext cx="3496877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950" b="0">
                <a:solidFill>
                  <a:srgbClr val="EBEDF0"/>
                </a:solidFill>
                <a:latin typeface="Geist"/>
              </a:defRPr>
            </a:pPr>
            <a:r>
              <a:t>• Word token overlap &gt;= 60% AND mandatory exact extraction of the 2-digit security number.</a:t>
            </a:r>
            <a:endParaRPr lang="en-US" sz="1450" dirty="0"/>
          </a:p>
          <a:p>
            <a:pPr>
              <a:spcAft>
                <a:spcPts val="400"/>
              </a:spcAft>
              <a:defRPr sz="950" b="0">
                <a:solidFill>
                  <a:srgbClr val="EBEDF0"/>
                </a:solidFill>
                <a:latin typeface="Geist"/>
              </a:defRPr>
            </a:pPr>
            <a:r>
              <a:t>• Defeats pre-recorded audio playback and static voice clones, as attackers cannot predict the dynamic challenge ahead of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670182"/>
            <a:ext cx="6296860" cy="933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2400" b="1">
                <a:solidFill>
                  <a:srgbClr val="F2F5FA"/>
                </a:solidFill>
                <a:latin typeface="Geist Bold"/>
              </a:defRPr>
            </a:pPr>
            <a:r>
              <a:t>Learned Score Fusion &amp; Non-Linear Safeguard Gate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233360" y="1856234"/>
            <a:ext cx="6296860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  <a:defRPr sz="1100" b="0">
                <a:solidFill>
                  <a:srgbClr val="94A3B8"/>
                </a:solidFill>
                <a:latin typeface="Geist"/>
              </a:defRPr>
            </a:pPr>
            <a:r>
              <a:t>Resolving the Voice Clone Leak through trained PyTorch logistic regression, non-linear tandem gating, and calibrated operating policy tiers.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233360" y="2496741"/>
            <a:ext cx="3063104" cy="3701256"/>
          </a:xfrm>
          <a:prstGeom prst="roundRect">
            <a:avLst>
              <a:gd name="adj" fmla="val 246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31892" y="2695277"/>
            <a:ext cx="2666040" cy="291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400" b="1">
                <a:solidFill>
                  <a:srgbClr val="F87171"/>
                </a:solidFill>
                <a:latin typeface="Geist Bold"/>
              </a:defRPr>
            </a:pPr>
            <a:r>
              <a:t>Linear Fusion &amp; The Voice Clone Leak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431892" y="3089275"/>
            <a:ext cx="2666040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  <a:defRPr sz="1050" b="1">
                <a:solidFill>
                  <a:srgbClr val="F2F5FA"/>
                </a:solidFill>
                <a:latin typeface="Geist Bold"/>
              </a:defRPr>
            </a:pPr>
            <a:r>
              <a:t>• PyTorch Logistic Regression Trained on DEV:  s_fus = 12.7265·s_asv + 0.1767·s_cm - 3.4780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892" y="3760391"/>
            <a:ext cx="2666040" cy="9081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31892" y="4884440"/>
            <a:ext cx="2666040" cy="682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  <a:defRPr sz="1000" b="0">
                <a:solidFill>
                  <a:srgbClr val="EBEDF0"/>
                </a:solidFill>
                <a:latin typeface="Geist"/>
              </a:defRPr>
            </a:pPr>
            <a:r>
              <a:t>• The Voice Clone Leak Discovery: High speaker similarity (s_asv = +0.7181) mathematically overwhelms negative CM scores (s_cm = -6.0606), pushing fused score to +4.5899 &gt; tau_fus and leaking access! Pure linear fusion leaks 50% of target attacks.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467017" y="2496741"/>
            <a:ext cx="3063203" cy="3701256"/>
          </a:xfrm>
          <a:prstGeom prst="roundRect">
            <a:avLst>
              <a:gd name="adj" fmla="val 246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65549" y="2695277"/>
            <a:ext cx="2666140" cy="291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400" b="1">
                <a:solidFill>
                  <a:srgbClr val="34D399"/>
                </a:solidFill>
                <a:latin typeface="Geist Bold"/>
              </a:defRPr>
            </a:pPr>
            <a:r>
              <a:t>The Tandem Safeguard Gate &amp; Policy Tiers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8665549" y="3089275"/>
            <a:ext cx="2666140" cy="2910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06000"/>
              </a:lnSpc>
              <a:spcAft>
                <a:spcPts val="800"/>
              </a:spcAft>
              <a:buSzPct val="100000"/>
              <a:buChar char="•"/>
              <a:defRPr sz="1050" b="1">
                <a:solidFill>
                  <a:srgbClr val="F2F5FA"/>
                </a:solidFill>
                <a:latin typeface="Geist Bold"/>
              </a:defRPr>
            </a:pPr>
            <a:r>
              <a:t>• Mandatory Safeguard Gate: Mandates s_cm &gt;= tau_cm hard floor in tandem with s_fus &gt;= tau_fus, blocking 100% (4/4) of target attacks on evaluation trials!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spcAft>
                <a:spcPts val="400"/>
              </a:spcAft>
              <a:buSzPct val="100000"/>
              <a:buChar char="•"/>
              <a:defRPr sz="1050" b="1">
                <a:solidFill>
                  <a:srgbClr val="38BDF8"/>
                </a:solidFill>
                <a:latin typeface="Geist Bold"/>
              </a:defRPr>
            </a:pPr>
            <a:r>
              <a:t>• Calibrated DEV-Only Operating Policy Tiers: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spcAft>
                <a:spcPts val="300"/>
              </a:spcAft>
              <a:buSzPct val="100000"/>
              <a:buChar char="•"/>
              <a:defRPr sz="950" b="0">
                <a:solidFill>
                  <a:srgbClr val="EBEDF0"/>
                </a:solidFill>
                <a:latin typeface="Geist"/>
              </a:defRPr>
            </a:pPr>
            <a:r>
              <a:t>  - Balanced: tau_fus = +0.0783, tau_asv = +0.3130, tau_cm = -4.0694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spcAft>
                <a:spcPts val="300"/>
              </a:spcAft>
              <a:buSzPct val="100000"/>
              <a:buChar char="•"/>
              <a:defRPr sz="950" b="0">
                <a:solidFill>
                  <a:srgbClr val="EBEDF0"/>
                </a:solidFill>
                <a:latin typeface="Geist"/>
              </a:defRPr>
            </a:pPr>
            <a:r>
              <a:t>  - Strict Security: tau_fus = +0.5052, tau_asv = +0.3237, tau_cm = -4.0694</a:t>
            </a:r>
            <a:endParaRPr lang="en-US" sz="1400" dirty="0"/>
          </a:p>
          <a:p>
            <a:pPr>
              <a:spcAft>
                <a:spcPts val="300"/>
              </a:spcAft>
              <a:defRPr sz="950" b="0">
                <a:solidFill>
                  <a:srgbClr val="EBEDF0"/>
                </a:solidFill>
                <a:latin typeface="Geist"/>
              </a:defRPr>
            </a:pPr>
            <a:r>
              <a:t>  - High Convenience: tau_fus = -0.3486, tau_asv = +0.3024, tau_cm = -6.5000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5218"/>
            <a:ext cx="10868745" cy="491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2400" b="1">
                <a:solidFill>
                  <a:srgbClr val="F2F5FA"/>
                </a:solidFill>
                <a:latin typeface="Geist Bold"/>
              </a:defRPr>
            </a:pPr>
            <a:r>
              <a:t>System Inputs, Outputs &amp; Decision Taxonomy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834935"/>
            <a:ext cx="577022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400" b="1">
                <a:solidFill>
                  <a:srgbClr val="38BDF8"/>
                </a:solidFill>
                <a:latin typeface="Geist Bold"/>
              </a:defRPr>
            </a:pPr>
            <a:r>
              <a:t>System Input Specifications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491085"/>
            <a:ext cx="5770220" cy="1606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spcAft>
                <a:spcPts val="600"/>
              </a:spcAft>
              <a:buSzPct val="100000"/>
              <a:buChar char="•"/>
              <a:defRPr sz="1000" b="0">
                <a:solidFill>
                  <a:srgbClr val="EBEDF0"/>
                </a:solidFill>
                <a:latin typeface="Geist"/>
              </a:defRPr>
            </a:pP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t>• Audio Stream: 16 kHz 16-bit Mono PCM audio via Web Audio API or WAV upload.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spcAft>
                <a:spcPts val="600"/>
              </a:spcAft>
              <a:buSzPct val="100000"/>
              <a:buChar char="•"/>
              <a:defRPr sz="1000" b="0">
                <a:solidFill>
                  <a:srgbClr val="EBEDF0"/>
                </a:solidFill>
                <a:latin typeface="Geist"/>
              </a:defRPr>
            </a:pP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t>• Claimed Identity: Canonical username string (e.g., 'user_alpha').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spcAft>
                <a:spcPts val="600"/>
              </a:spcAft>
              <a:buSzPct val="100000"/>
              <a:buChar char="•"/>
              <a:defRPr sz="1000" b="0">
                <a:solidFill>
                  <a:srgbClr val="EBEDF0"/>
                </a:solidFill>
                <a:latin typeface="Geist"/>
              </a:defRPr>
            </a:pPr>
            <a:r>
              <a:t>• Dynamic Session Nonce: Cryptographic challenge token (&lt;= 20s TTL).</a:t>
            </a:r>
            <a:endParaRPr lang="en-US" sz="1450" dirty="0"/>
          </a:p>
          <a:p>
            <a:pPr>
              <a:spcAft>
                <a:spcPts val="400"/>
              </a:spcAft>
              <a:defRPr sz="1000" b="0">
                <a:solidFill>
                  <a:srgbClr val="EBEDF0"/>
                </a:solidFill>
                <a:latin typeface="Geist"/>
              </a:defRPr>
            </a:pPr>
            <a:r>
              <a:t>• Operating Policy: Server-enforced 'strict_security' (or balanced/convenience).</a:t>
            </a:r>
          </a:p>
        </p:txBody>
      </p:sp>
      <p:sp>
        <p:nvSpPr>
          <p:cNvPr id="5" name="Text 3"/>
          <p:cNvSpPr/>
          <p:nvPr/>
        </p:nvSpPr>
        <p:spPr>
          <a:xfrm>
            <a:off x="6899202" y="1834935"/>
            <a:ext cx="524685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    Implementation toolchain and components.       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99202" y="2287984"/>
            <a:ext cx="472468" cy="472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07903" y="2287984"/>
            <a:ext cx="3928567" cy="30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200"/>
              </a:spcAft>
              <a:buNone/>
              <a:defRPr sz="1300" b="1">
                <a:solidFill>
                  <a:srgbClr val="34D399"/>
                </a:solidFill>
                <a:latin typeface="Geist Bold"/>
              </a:defRPr>
            </a:pPr>
            <a:r>
              <a:t>7 Granular Decision Verdicts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607903" y="2784078"/>
            <a:ext cx="3928567" cy="245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200"/>
              </a:spcAft>
              <a:buNone/>
              <a:defRPr sz="950" b="0">
                <a:solidFill>
                  <a:srgbClr val="EBEDF0"/>
                </a:solidFill>
                <a:latin typeface="Geist"/>
              </a:defRPr>
            </a:pPr>
            <a:r>
              <a:t>AUTHENTICATED: Target + genuine + fresh challenge. ACCESS GRANTED.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9202" y="3407767"/>
            <a:ext cx="472468" cy="472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07903" y="3407767"/>
            <a:ext cx="3928567" cy="30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200"/>
              </a:spcAft>
              <a:buNone/>
              <a:defRPr sz="1300" b="1">
                <a:solidFill>
                  <a:srgbClr val="F87171"/>
                </a:solidFill>
                <a:latin typeface="Geist Bold"/>
              </a:defRPr>
            </a:pPr>
            <a:r>
              <a:t>Security Denials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7607903" y="3903861"/>
            <a:ext cx="392856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200"/>
              </a:spcAft>
              <a:buNone/>
              <a:defRPr sz="950" b="0">
                <a:solidFill>
                  <a:srgbClr val="EBEDF0"/>
                </a:solidFill>
                <a:latin typeface="Geist"/>
              </a:defRPr>
            </a:pPr>
            <a:r>
              <a:t>SUSPECTED_SPOOF (Voice matched, AASIST detected clone/replay); SPEAKER_MISMATCH (Genuine voice, but wrong user); DUAL_CRITERIA_FAILURE.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99202" y="4773216"/>
            <a:ext cx="472468" cy="472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07903" y="4773216"/>
            <a:ext cx="3928567" cy="30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200"/>
              </a:spcAft>
              <a:buNone/>
              <a:defRPr sz="1300" b="1">
                <a:solidFill>
                  <a:srgbClr val="FB923C"/>
                </a:solidFill>
                <a:latin typeface="Geist Bold"/>
              </a:defRPr>
            </a:pPr>
            <a:r>
              <a:t>Protocol &amp; Diagnostics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7607903" y="5269309"/>
            <a:ext cx="392856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200"/>
              </a:spcAft>
              <a:buNone/>
              <a:defRPr sz="950" b="0">
                <a:solidFill>
                  <a:srgbClr val="EBEDF0"/>
                </a:solidFill>
                <a:latin typeface="Geist"/>
              </a:defRPr>
            </a:pPr>
            <a:r>
              <a:t>CHALLENGE_FAILED (Expired token or wrong number); POOR_AUDIO_QUALITY (RMS &lt; 0.003); MARGINAL_FUSION_REJECTION (Sub-scores pass, joint fails).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6119"/>
            <a:ext cx="10868745" cy="583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2400" b="1">
                <a:solidFill>
                  <a:srgbClr val="F2F5FA"/>
                </a:solidFill>
                <a:latin typeface="Geist Bold"/>
              </a:defRPr>
            </a:pPr>
            <a:r>
              <a:t>System Architecture Flowchart &amp; Operational Pipeline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7680960" y="1645920"/>
            <a:ext cx="4023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  <a:defRPr sz="1050" b="0">
                <a:solidFill>
                  <a:srgbClr val="EBEDF0"/>
                </a:solidFill>
                <a:latin typeface="Geist"/>
              </a:defRPr>
            </a:pPr>
            <a:r>
              <a:t>End-to-End Multimodal Execution Flow: Client captures 16 kHz audio and initiates a time-bound session. Stage 1 validates signal quality (RMS &gt;= 0.003). Parallel AI streams execute Dynamic Liveness via Whisper ASR (Stage 2), Anti-Spoofing via raw-waveform AASIST (Stage 3), and Deep Speaker Verification via ECAPA-TDNN (Stage 4). Stage 5 applies learned logistic regression score fusion backed by a mandatory countermeasure safeguard gate, outputting 7 granular verdicts and telemetry in &lt;390 ms with guaranteed state restoration.</a:t>
            </a:r>
            <a:endParaRPr lang="en-US" sz="2100" dirty="0"/>
          </a:p>
        </p:txBody>
      </p:sp>
      <p:pic>
        <p:nvPicPr>
          <p:cNvPr id="5" name="Picture 4" descr="system_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645920"/>
            <a:ext cx="68580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122"/>
            <a:ext cx="10868745" cy="466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2400" b="1">
                <a:solidFill>
                  <a:srgbClr val="F2F5FA"/>
                </a:solidFill>
                <a:latin typeface="Geist Bold"/>
              </a:defRPr>
            </a:pPr>
            <a:r>
              <a:t>Empirical Benchmarks, Evaluation Results &amp; Hardware Telemetry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342479"/>
            <a:ext cx="11478330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    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755378"/>
            <a:ext cx="10868745" cy="2082998"/>
          </a:xfrm>
          <a:prstGeom prst="roundRect">
            <a:avLst>
              <a:gd name="adj" fmla="val 3621"/>
            </a:avLst>
          </a:prstGeom>
          <a:solidFill>
            <a:srgbClr val="1D232D"/>
          </a:solidFill>
          <a:ln/>
        </p:spPr>
      </p:sp>
      <p:sp>
        <p:nvSpPr>
          <p:cNvPr id="5" name="Text 3"/>
          <p:cNvSpPr/>
          <p:nvPr/>
        </p:nvSpPr>
        <p:spPr>
          <a:xfrm>
            <a:off x="876873" y="1934865"/>
            <a:ext cx="10437948" cy="172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400"/>
              </a:spcAft>
              <a:buNone/>
              <a:defRPr sz="1200" b="1">
                <a:solidFill>
                  <a:srgbClr val="38BDF8"/>
                </a:solidFill>
                <a:latin typeface="Geist Bold"/>
              </a:defRPr>
            </a:pPr>
            <a:r>
              <a:t>Empirical Evaluation Comparison on Pilot EVAL Set (21 Trials across 4 Speakers):</a:t>
            </a:r>
            <a:endParaRPr lang="en-US" sz="1400" dirty="0"/>
          </a:p>
          <a:p>
            <a:pPr algn="l" indent="0" marL="0">
              <a:lnSpc>
                <a:spcPct val="133000"/>
              </a:lnSpc>
              <a:spcAft>
                <a:spcPts val="300"/>
              </a:spcAft>
              <a:buNone/>
              <a:defRPr sz="1000" b="0">
                <a:solidFill>
                  <a:srgbClr val="EBEDF0"/>
                </a:solidFill>
                <a:latin typeface="Geist"/>
              </a:defRPr>
            </a:pPr>
            <a:r>
              <a:t>• Standalone ASV Gate: TAR: 66.7% (2/3) | Impostor Rej: 100.0% (8/8) | Target Spoof Rej: 50.0% (2/4 - Leaks 2 clones!) | Overall Spoof: 80.0%</a:t>
            </a:r>
            <a:endParaRPr lang="en-US" sz="1400" dirty="0"/>
          </a:p>
          <a:p>
            <a:pPr algn="l" indent="0" marL="0">
              <a:lnSpc>
                <a:spcPct val="133000"/>
              </a:lnSpc>
              <a:spcAft>
                <a:spcPts val="300"/>
              </a:spcAft>
              <a:buNone/>
              <a:defRPr sz="1000" b="0">
                <a:solidFill>
                  <a:srgbClr val="EBEDF0"/>
                </a:solidFill>
                <a:latin typeface="Geist"/>
              </a:defRPr>
            </a:pPr>
            <a:r>
              <a:t>• Standalone CM Gate: TAR: 66.7% (2/3) | Impostor Rej: 25.0% (2/8 - Fails on impostors!) | Target Spoof Rej: 75.0% (3/4) | Overall Spoof: 40.0%</a:t>
            </a:r>
            <a:endParaRPr lang="en-US" sz="1400" dirty="0"/>
          </a:p>
          <a:p>
            <a:pPr algn="l" indent="0" marL="0">
              <a:lnSpc>
                <a:spcPct val="133000"/>
              </a:lnSpc>
              <a:spcAft>
                <a:spcPts val="300"/>
              </a:spcAft>
              <a:buNone/>
              <a:defRPr sz="1000" b="0">
                <a:solidFill>
                  <a:srgbClr val="EBEDF0"/>
                </a:solidFill>
                <a:latin typeface="Geist"/>
              </a:defRPr>
            </a:pPr>
            <a:r>
              <a:t>• Fused (Pure Linear): TAR: 66.7% (2/3) | Impostor Rej: 100.0% (8/8) | Target Spoof Rej: 25.0% (1/4 - Leaks 3 clones!) | Overall Spoof: 70.0%</a:t>
            </a:r>
            <a:endParaRPr lang="en-US" sz="1400" dirty="0"/>
          </a:p>
          <a:p>
            <a:pPr algn="l" indent="0" marL="0">
              <a:lnSpc>
                <a:spcPct val="133000"/>
              </a:lnSpc>
              <a:spcAft>
                <a:spcPts val="300"/>
              </a:spcAft>
              <a:buNone/>
              <a:defRPr sz="1050" b="1">
                <a:solidFill>
                  <a:srgbClr val="34D399"/>
                </a:solidFill>
                <a:latin typeface="Geist Bold"/>
              </a:defRPr>
            </a:pPr>
            <a:r>
              <a:t>• Fused Strict Gated (Our System): Impostor Rejection: 100.0% (8/8) | Target Spoof Rej: 100.0% (4/4 BLOCKED) | Non-Target Spoof Rej: 100.0% (6/6) | Overall Spoof Rej: 100.0% (10/10)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475" y="4449762"/>
            <a:ext cx="5349047" cy="1880394"/>
          </a:xfrm>
          <a:prstGeom prst="roundRect">
            <a:avLst>
              <a:gd name="adj" fmla="val 401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0007" y="4648299"/>
            <a:ext cx="4951983" cy="291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400" b="1">
                <a:solidFill>
                  <a:srgbClr val="FACC15"/>
                </a:solidFill>
                <a:latin typeface="Geist Bold"/>
              </a:defRPr>
            </a:pPr>
            <a:r>
              <a:t>The Beta Score Inversion Finding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60007" y="5042297"/>
            <a:ext cx="4951983" cy="1089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06000"/>
              </a:lnSpc>
              <a:spcAft>
                <a:spcPts val="300"/>
              </a:spcAft>
              <a:buSzPct val="100000"/>
              <a:buChar char="•"/>
              <a:defRPr sz="1000" b="0">
                <a:solidFill>
                  <a:srgbClr val="EBEDF0"/>
                </a:solidFill>
                <a:latin typeface="Geist"/>
              </a:defRPr>
            </a:pPr>
            <a:r>
              <a:t>• Authentic Beta (EVAL-B-GEN): s_cm = -6.2595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spcAft>
                <a:spcPts val="300"/>
              </a:spcAft>
              <a:buSzPct val="100000"/>
              <a:buChar char="•"/>
              <a:defRPr sz="1000" b="1">
                <a:solidFill>
                  <a:srgbClr val="F87171"/>
                </a:solidFill>
                <a:latin typeface="Geist Bold"/>
              </a:defRPr>
            </a:pPr>
            <a:r>
              <a:t>• Beta Voice Clone (EVAL-B-TSPOOF-SYN): s_cm = -6.0606 [INVERTED]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spcAft>
                <a:spcPts val="300"/>
              </a:spcAft>
              <a:buSzPct val="100000"/>
              <a:buChar char="•"/>
              <a:defRPr sz="1000" b="1">
                <a:solidFill>
                  <a:srgbClr val="F87171"/>
                </a:solidFill>
                <a:latin typeface="Geist Bold"/>
              </a:defRPr>
            </a:pPr>
            <a:r>
              <a:t>• Beta Replay Attack (EVAL-B-TSPOOF-REP): s_cm = -5.8459 [INVERTED]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spcAft>
                <a:spcPts val="200"/>
              </a:spcAft>
              <a:buSzPct val="100000"/>
              <a:buChar char="•"/>
              <a:defRPr sz="950" b="0">
                <a:solidFill>
                  <a:srgbClr val="EBEDF0"/>
                </a:solidFill>
                <a:latin typeface="Geist"/>
              </a:defRPr>
            </a:pPr>
            <a:r>
              <a:t>• Key Finding: Acoustic reverberation/compression caused authentic speech to score more negative than neural clones, proving 1D CM thresholds fail without multi-modal gating.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1074" y="4449762"/>
            <a:ext cx="5349146" cy="1880394"/>
          </a:xfrm>
          <a:prstGeom prst="roundRect">
            <a:avLst>
              <a:gd name="adj" fmla="val 401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606" y="4648299"/>
            <a:ext cx="4952082" cy="291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  <a:defRPr sz="1400" b="1">
                <a:solidFill>
                  <a:srgbClr val="38BDF8"/>
                </a:solidFill>
                <a:latin typeface="Geist Bold"/>
              </a:defRPr>
            </a:pPr>
            <a:r>
              <a:t>Live Hardware &amp; Latency Telemetry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379606" y="5042297"/>
            <a:ext cx="4952082" cy="682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spcAft>
                <a:spcPts val="300"/>
              </a:spcAft>
              <a:buNone/>
              <a:defRPr sz="1000" b="0">
                <a:solidFill>
                  <a:srgbClr val="EBEDF0"/>
                </a:solidFill>
                <a:latin typeface="Geist"/>
              </a:defRPr>
            </a:pPr>
            <a:r>
              <a:t>• GPU Hardware: NVIDIA GeForce RTX 3050 Laptop GPU (CUDA 12.x)</a:t>
            </a:r>
            <a:endParaRPr lang="en-US" sz="1400" dirty="0"/>
          </a:p>
          <a:p>
            <a:pPr>
              <a:spcAft>
                <a:spcPts val="300"/>
              </a:spcAft>
              <a:defRPr sz="1000" b="0">
                <a:solidFill>
                  <a:srgbClr val="EBEDF0"/>
                </a:solidFill>
                <a:latin typeface="Geist"/>
              </a:defRPr>
            </a:pPr>
            <a:r>
              <a:t>• VRAM Footprint: ~1,011 MB allocated / 4,095 MB budget (lightweight)</a:t>
            </a:r>
          </a:p>
          <a:p>
            <a:pPr>
              <a:spcAft>
                <a:spcPts val="200"/>
              </a:spcAft>
              <a:defRPr sz="1000" b="0">
                <a:solidFill>
                  <a:srgbClr val="EBEDF0"/>
                </a:solidFill>
                <a:latin typeface="Geist"/>
              </a:defRPr>
            </a:pPr>
            <a:r>
              <a:t>• Latency Breakdown: ECAPA = 15.2 ms | AASIST = 24.8 ms | Whisper = 321.4 ms | Total E2E = 382.5 ms (real-time sub-second)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48461"/>
            <a:ext cx="10868745" cy="1842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  <a:defRPr sz="2400" b="1">
                <a:solidFill>
                  <a:srgbClr val="F2F5FA"/>
                </a:solidFill>
                <a:latin typeface="Geist Bold"/>
              </a:defRPr>
            </a:pPr>
            <a:r>
              <a:t>System Implementation, Technology Stack &amp; Summary</a:t>
            </a:r>
            <a:endParaRPr lang="en-US" sz="11150" dirty="0"/>
          </a:p>
          <a:p>
            <a:pPr>
              <a:spcAft>
                <a:spcPts val="500"/>
              </a:spcAft>
              <a:defRPr sz="1100" b="0">
                <a:solidFill>
                  <a:srgbClr val="EBEDF0"/>
                </a:solidFill>
                <a:latin typeface="Geist"/>
              </a:defRPr>
            </a:pPr>
            <a:r>
              <a:t>• Production Technology Stack: FastAPI REST server, PyTorch CUDA 12.x, SpeechBrain ECAPA-TDNN, AASIST raw waveform GAT, OpenAI Whisper small.en, and reactive Glassmorphic Web UI (/ui/).</a:t>
            </a:r>
          </a:p>
          <a:p>
            <a:pPr>
              <a:spcAft>
                <a:spcPts val="500"/>
              </a:spcAft>
              <a:defRPr sz="1100" b="0">
                <a:solidFill>
                  <a:srgbClr val="EBEDF0"/>
                </a:solidFill>
                <a:latin typeface="Geist"/>
              </a:defRPr>
            </a:pPr>
            <a:r>
              <a:t>• Production Security Controls: Server-controlled strict policy enforcement, outer try...finally state restoration eliminating cross-request memory pollution, and permanent audio audit trail.</a:t>
            </a:r>
          </a:p>
          <a:p>
            <a:pPr>
              <a:spcAft>
                <a:spcPts val="500"/>
              </a:spcAft>
              <a:defRPr sz="1100" b="0">
                <a:solidFill>
                  <a:srgbClr val="EBEDF0"/>
                </a:solidFill>
                <a:latin typeface="Geist"/>
              </a:defRPr>
            </a:pPr>
            <a:r>
              <a:t>• Automated Test Coverage: 7 Automated Backend Integration Test Suites passing (100% exit code 0) verifying enrollment, challenges, spoof detection, and threshold policies.</a:t>
            </a:r>
          </a:p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  <a:latin typeface="Geist Bold"/>
              </a:defRPr>
            </a:pPr>
            <a:r>
              <a:t>• Core Scientific Contribution: Identified the mathematical Voice Clone Leak in linear SASV fusion and proved that non-linear tandem countermeasure gating achieves 100% target attack blocking in &lt;390 ms.</a:t>
            </a:r>
          </a:p>
          <a:p>
            <a:pPr>
              <a:spcAft>
                <a:spcPts val="400"/>
              </a:spcAft>
              <a:defRPr sz="2000" b="1">
                <a:solidFill>
                  <a:srgbClr val="34D399"/>
                </a:solidFill>
                <a:latin typeface="Geist Bold"/>
              </a:defRPr>
            </a:pPr>
            <a:r>
              <a:t>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2026-10-12T04:55:05Z</dcterms:created>
  <dcterms:modified xsi:type="dcterms:W3CDTF">2026-10-12T04:55:05Z</dcterms:modified>
</cp:coreProperties>
</file>